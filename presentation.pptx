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Passport OCR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808080"/>
                </a:solidFill>
              </a:defRPr>
            </a:pPr>
            <a:r>
              <a:t>Интеллектуальный преобразователь оцифровки паспортных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08080"/>
                </a:solidFill>
              </a:defRPr>
            </a:pPr>
            <a:r>
              <a:t>Команда: Максим Садреев, Павел Гуров, Артем Трушин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C7293"/>
                </a:solidFill>
              </a:defRPr>
            </a:pPr>
            <a:r>
              <a:t>Хакатон РТУ МИРЭА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Проблема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09728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Паспорта оборудования поступают на бумажных носителях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82880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Различные формы: стандартные бланки, формы производителя, произвольная форма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56032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Ручной ввод данных — медленно и подвержено ошибкам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29184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918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Сложность интеграции в систему 1С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02336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Невозможность автоматического поиска и проверки данных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Решение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8229600" cy="1828800"/>
          </a:xfrm>
          <a:prstGeom prst="roundRect">
            <a:avLst/>
          </a:prstGeom>
          <a:solidFill>
            <a:srgbClr val="065A82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274320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Автоматическая оцифровка PDF-документов</a:t>
            </a:r>
          </a:p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</a:defRPr>
            </a:pPr>
            <a:r>
              <a:t>OCR с Tesseract / PaddleOCR</a:t>
            </a:r>
          </a:p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</a:defRPr>
            </a:pPr>
            <a:r>
              <a:t>LLM-структуризация через Ollama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0"/>
            <a:ext cx="8229600" cy="1645920"/>
          </a:xfrm>
          <a:prstGeom prst="roundRect">
            <a:avLst/>
          </a:prstGeom>
          <a:solidFill>
            <a:srgbClr val="065A82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274320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Генерация штрих-кодов (Code 39, Code 128, EAN-13)</a:t>
            </a:r>
          </a:p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</a:defRPr>
            </a:pPr>
            <a:r>
              <a:t>Экспорт в XLSX для 1С</a:t>
            </a:r>
          </a:p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</a:defRPr>
            </a:pPr>
            <a:r>
              <a:t>Веб-интерфейс для загрузки и просмотра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Архитектура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8229600" cy="3474720"/>
          </a:xfrm>
          <a:prstGeom prst="roundRect">
            <a:avLst/>
          </a:prstGeom>
          <a:solidFill>
            <a:srgbClr val="065A82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274320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PDF -&gt; PDFProcessor -&gt; Сегментация страниц (текст/скан)</a:t>
            </a:r>
          </a:p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</a:defRPr>
            </a:pPr>
            <a:r>
              <a:t>OCR -&gt; Распознавание текста с confidence</a:t>
            </a:r>
          </a:p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</a:defRPr>
            </a:pPr>
            <a:r>
              <a:t>LLMExtractor -&gt; Структуризация через LLM</a:t>
            </a:r>
          </a:p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</a:defRPr>
            </a:pPr>
            <a:r>
              <a:t>Генерация штрих-кодов и XLSX-экспорт</a:t>
            </a:r>
          </a:p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</a:defRPr>
            </a:pPr>
            <a:r>
              <a:t>Веб-интерфейс: React + FastAPI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Возможности системы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09728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Определение типа страниц (текстовая / скан)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645919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45919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OCR: Tesseract и PaddleOCR с оценкой качества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19456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945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Извлечение таблиц из PDF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74320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43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LLM-структуризация (Ollama qwen2.5 + llava)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291839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91839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Vision-fallback для проблемных сегментов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84048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404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Генерация штрих-кодов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438912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3891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Экспорт в JSON и XLSX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Технологический стек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8229600" cy="1371600"/>
          </a:xfrm>
          <a:prstGeom prst="roundRect">
            <a:avLst/>
          </a:prstGeom>
          <a:solidFill>
            <a:srgbClr val="065A82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274320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Frontend: React + TypeScript + Vite</a:t>
            </a:r>
          </a:p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</a:defRPr>
            </a:pPr>
            <a:r>
              <a:t>Backend: FastAPI + Uvicorn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8229600" cy="1371600"/>
          </a:xfrm>
          <a:prstGeom prst="roundRect">
            <a:avLst/>
          </a:prstGeom>
          <a:solidFill>
            <a:srgbClr val="065A82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274320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OCR: Tesseract, PaddleOCR</a:t>
            </a:r>
          </a:p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</a:defRPr>
            </a:pPr>
            <a:r>
              <a:t>PDF: PyMuPDF, pdf2image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389120"/>
            <a:ext cx="8229600" cy="1371600"/>
          </a:xfrm>
          <a:prstGeom prst="roundRect">
            <a:avLst/>
          </a:prstGeom>
          <a:solidFill>
            <a:srgbClr val="065A82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274320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LLM: Ollama (qwen2.5:3b, llava:7b)</a:t>
            </a:r>
          </a:p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</a:defRPr>
            </a:pPr>
            <a:r>
              <a:t>Container: Docker + Compose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Критерии оценки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560320" cy="1371600"/>
          </a:xfrm>
          <a:prstGeom prst="roundRect">
            <a:avLst/>
          </a:prstGeom>
          <a:solidFill>
            <a:srgbClr val="065A82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0-4</a:t>
            </a:r>
          </a:p>
          <a:p>
            <a:pPr algn="ctr">
              <a:defRPr sz="1200">
                <a:solidFill>
                  <a:srgbClr val="808080"/>
                </a:solidFill>
              </a:defRPr>
            </a:pPr>
            <a:r>
              <a:t>Точность распознавания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371600"/>
            <a:ext cx="2560320" cy="1371600"/>
          </a:xfrm>
          <a:prstGeom prst="roundRect">
            <a:avLst/>
          </a:prstGeom>
          <a:solidFill>
            <a:srgbClr val="065A82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0-2</a:t>
            </a:r>
          </a:p>
          <a:p>
            <a:pPr algn="ctr">
              <a:defRPr sz="1200">
                <a:solidFill>
                  <a:srgbClr val="808080"/>
                </a:solidFill>
              </a:defRPr>
            </a:pPr>
            <a:r>
              <a:t>Полнота извлеченной информации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371600"/>
            <a:ext cx="2560320" cy="1371600"/>
          </a:xfrm>
          <a:prstGeom prst="roundRect">
            <a:avLst/>
          </a:prstGeom>
          <a:solidFill>
            <a:srgbClr val="065A82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0-2</a:t>
            </a:r>
          </a:p>
          <a:p>
            <a:pPr algn="ctr">
              <a:defRPr sz="1200">
                <a:solidFill>
                  <a:srgbClr val="808080"/>
                </a:solidFill>
              </a:defRPr>
            </a:pPr>
            <a:r>
              <a:t>Удобство интерфейса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2560320" cy="1371600"/>
          </a:xfrm>
          <a:prstGeom prst="roundRect">
            <a:avLst/>
          </a:prstGeom>
          <a:solidFill>
            <a:srgbClr val="065A82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0-2</a:t>
            </a:r>
          </a:p>
          <a:p>
            <a:pPr algn="ctr">
              <a:defRPr sz="1200">
                <a:solidFill>
                  <a:srgbClr val="808080"/>
                </a:solidFill>
              </a:defRPr>
            </a:pPr>
            <a:r>
              <a:t>Процент ошибок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3017520"/>
            <a:ext cx="2560320" cy="1371600"/>
          </a:xfrm>
          <a:prstGeom prst="roundRect">
            <a:avLst/>
          </a:prstGeom>
          <a:solidFill>
            <a:srgbClr val="065A82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+1</a:t>
            </a:r>
          </a:p>
          <a:p>
            <a:pPr algn="ctr">
              <a:defRPr sz="1200">
                <a:solidFill>
                  <a:srgbClr val="808080"/>
                </a:solidFill>
              </a:defRPr>
            </a:pPr>
            <a:r>
              <a:t>Работа в 1С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017520"/>
            <a:ext cx="2560320" cy="1371600"/>
          </a:xfrm>
          <a:prstGeom prst="roundRect">
            <a:avLst/>
          </a:prstGeom>
          <a:solidFill>
            <a:srgbClr val="065A82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+1</a:t>
            </a:r>
          </a:p>
          <a:p>
            <a:pPr algn="ctr">
              <a:defRPr sz="1200">
                <a:solidFill>
                  <a:srgbClr val="808080"/>
                </a:solidFill>
              </a:defRPr>
            </a:pPr>
            <a:r>
              <a:t>Чек-листы и интеграция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Команда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Максим Садреев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Павел Гуров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2860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Артем Трушин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C7293"/>
                </a:solidFill>
              </a:defRPr>
            </a:pPr>
            <a:r>
              <a:t>Хакатон РТУ МИРЭА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